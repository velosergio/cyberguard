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Presentar al equipo y el nombre del proyecto. Esta es la segunda entrega: ya no es solo la propuesta, mostramos el sistema construido, cómo está diseñado, qué probamos y qué falta.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Pregunta de investigación: ¿cómo desarrollar una plataforma en Java que registre, analice y clasifique eventos de una red autorizada para identificar comportamientos potencialmente anómalos y generar alertas? Apoyo: NIST SP 800-61 sobre identificación y análisis de eventos.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 general: desarrollar CyberGuard en Java para registrar y analizar eventos de una red autorizada mediante reglas, clasificar el riesgo y generar alertas. El tercer objetivo sigue en curso porque las pruebas se amplían en la tercera entrega.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eventos se registran en el sistema (a mano o con los datos de demostración) y se analizan dentro de él. Todo se trabaja sobre redes y datos para los que hay autorización.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permisos se definen por ruta en SecurityConfig con Spring Security. Contraseñas de demo: Admin123*, Analista123*, Consulta123*.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motor de análisis aparece como actor interno porque actúa sin que nadie lo pida: cada vez que se registra un evento.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navegador pide una página y Spring Boot responde con HTML generado por Thymeleaf. No hay una API ni un frontend separados. Un controlador nunca escribe SQL ni decide si algo es sospechoso: llama al servicio, y el servicio al motor.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Todo ocurre en una sola transacción de EventoService.registrar. Si ninguna regla se cumple, no se crea alerta. Consultar listas no vuelve a analizar.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Recorrer: validación del formulario, regla de negocio del puerto, búsqueda del dispositivo, guardado, actualización de última actividad, análisis con el bucle de reglas, clasificación y creación de la alerta solo si hubo detecciones.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Spring inyecta en MotorAnalisis la lista de todas las clases que implementan ReglaDeteccion y el motor las guarda en un HashMap por código. Cada evaluación recibe un ContextoAnalisis (record) con el evento, la regla, el historial de la IP y si el dispositivo está registrado.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Valores iniciales cargados por DataInitializer. El administrador puede cambiar puntos (1 a 100), umbral (mínimo 1), ventana (0 a 1440 minutos) y activar o desactivar cada regla.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ClasificadorRiesgo limita la suma entre 0 y 100. Con los valores iniciales una sola regla no pasa de 30 puntos: para llegar a alto o crítico deben coincidir varias señales. Lo revisaremos en la tercera entrega.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IP es única en dispositivos. Un evento puede hablar de una IP que todavía no está en el inventario, y aun así las reglas funcionan. La tabla usuarios no se relaciona con las demás: registrar quién hizo cada acción es un pendiente.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la primera entrega quedaba abierta la base de datos (PostgreSQL o MySQL). Se eligió MySQL por estar disponible en XAMPP y Laragon. Para ejecutar solo hace falta JDK 21+ y MySQL; el wrapper descarga Maven.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Captura con los datos de demostración que se cargan solos la primera vez. Si hay tiempo, hacer la demo en vivo: mvnw.cmd spring-boot:run y abrir localhost:8080.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Alerta 9: IP 192.168.10.77, no registrada, evento de actividad inusual. Dos reglas cumplidas, 20 puntos, nivel bajo. Quedó en revisión con la nota "Revisada en laboratorio".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ejecutan con mvnw.cmd test y no necesitan MySQL. El motor se prueba aislado con Mockito; la seguridad con MockMvc sobre la aplicación completa. Es una base: ampliarlas es la prioridad de la tercera entrega.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Otros casos documentados: Thymeleaf 3.1 sin #request (se resolvió con NavegacionAdvice), datos de demostración sin duplicarse, JDK menor a 21, puerto obligatorio en accesos a puerto, pruebas con H2 y zona horaria America/Bogota.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Cierra también con el documento final: resultados de las pruebas ampliadas, manual de usuario y conclusiones finales.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arquitectura por capas permitió probar el motor aislado y trabajar en paralelo. La seguridad se aplicó en el propio software: roles, BCrypt, CSRF y validación. La prioridad ahora es ampliar pruebas, auditoría y calibración de reglas.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Tener la aplicación abierta para responder preguntas con la demo en vivo.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8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5BB8A4"/>
          </a:solidFill>
          <a:ln/>
        </p:spPr>
      </p:sp>
      <p:sp>
        <p:nvSpPr>
          <p:cNvPr id="3" name="Text 1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5BB8A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SEGUNDA ENTREGA · PROGRAMACIÓN AVANZADA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12800" y="1229320"/>
            <a:ext cx="10883392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300"/>
              </a:lnSpc>
              <a:buNone/>
            </a:pPr>
            <a:r>
              <a:rPr lang="en-US" sz="6000" b="1" dirty="0">
                <a:solidFill>
                  <a:srgbClr val="EEF2E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CyberGuard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812800" y="2232620"/>
            <a:ext cx="7848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C9D3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Plataforma de análisis y detección de comportamientos anómalos en redes autorizadas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12800" y="4643372"/>
            <a:ext cx="352553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3A4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Integrantes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12800" y="4907492"/>
            <a:ext cx="3525534" cy="1163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EEF2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Sergio Esteban Veloza Gonzalez</a:t>
            </a:r>
            <a:endParaRPr lang="en-US" sz="1600" dirty="0"/>
          </a:p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EEF2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Luifer Andres Hernandez Lambraño</a:t>
            </a:r>
            <a:endParaRPr lang="en-US" sz="1600" dirty="0"/>
          </a:p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EEF2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Marcos Antonio Pacheco Bautista</a:t>
            </a:r>
            <a:endParaRPr lang="en-US" sz="1600" dirty="0"/>
          </a:p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EEF2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Rafael Antonio Rodríguez Gamarra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216816" y="5303639"/>
            <a:ext cx="216238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3A4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Docente: Faber Alemán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216816" y="5567759"/>
            <a:ext cx="216238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3A4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Ingeniería de Sistemas · CUN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216816" y="5831880"/>
            <a:ext cx="216238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3A4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Sincelejo,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2F7D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PROBLEMA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9194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620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Revisar eventos de red a mano no permite ver a tiempo lo que merece atención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2329723"/>
            <a:ext cx="3380317" cy="1769798"/>
          </a:xfrm>
          <a:prstGeom prst="roundRect">
            <a:avLst>
              <a:gd name="adj" fmla="val 5561"/>
            </a:avLst>
          </a:prstGeom>
          <a:solidFill>
            <a:srgbClr val="FFFFFF"/>
          </a:solidFill>
          <a:ln w="6350">
            <a:solidFill>
              <a:srgbClr val="D9DF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1033" y="2584781"/>
            <a:ext cx="2956306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620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 equipo nuevo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71033" y="2991181"/>
            <a:ext cx="2956306" cy="878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D4A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Una IP que aparece por primera vez y no está en el inventario.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405842" y="2329723"/>
            <a:ext cx="3380317" cy="1769798"/>
          </a:xfrm>
          <a:prstGeom prst="roundRect">
            <a:avLst>
              <a:gd name="adj" fmla="val 5561"/>
            </a:avLst>
          </a:prstGeom>
          <a:solidFill>
            <a:srgbClr val="FFFFFF"/>
          </a:solidFill>
          <a:ln w="6350">
            <a:solidFill>
              <a:srgbClr val="D9DF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0900" y="2584781"/>
            <a:ext cx="2956306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620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Intentos seguidos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660900" y="2991181"/>
            <a:ext cx="2956306" cy="878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D4A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Ocho intentos de conexión desde la misma IP en cinco minutos.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995709" y="2329723"/>
            <a:ext cx="3380317" cy="1769798"/>
          </a:xfrm>
          <a:prstGeom prst="roundRect">
            <a:avLst>
              <a:gd name="adj" fmla="val 5561"/>
            </a:avLst>
          </a:prstGeom>
          <a:solidFill>
            <a:srgbClr val="FFFFFF"/>
          </a:solidFill>
          <a:ln w="6350">
            <a:solidFill>
              <a:srgbClr val="D9DF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50767" y="2584781"/>
            <a:ext cx="2956306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620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Muchos puertos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50767" y="2991181"/>
            <a:ext cx="2956306" cy="5942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D4A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Accesos a cinco puertos distintos en dos minutos.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12800" y="4407495"/>
            <a:ext cx="9810750" cy="5942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D4A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Ninguno prueba un ataque, pero todos requieren revisión. Sin una herramienta, relacionar IP, fechas y frecuencias toma tiempo.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D6B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CyberGuard · Segunda entrega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D6B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2F7D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OBJETIVOS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9194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620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Registrar, analizar con reglas, clasificar el riesgo y alertar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2329723"/>
            <a:ext cx="10560050" cy="764117"/>
          </a:xfrm>
          <a:prstGeom prst="roundRect">
            <a:avLst>
              <a:gd name="adj" fmla="val 12881"/>
            </a:avLst>
          </a:prstGeom>
          <a:solidFill>
            <a:srgbClr val="FFFFFF"/>
          </a:solidFill>
          <a:ln w="6350">
            <a:solidFill>
              <a:srgbClr val="D9DF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1033" y="2533982"/>
            <a:ext cx="457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2F7D6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680633" y="2574595"/>
            <a:ext cx="8525815" cy="299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1620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Requerimientos, arquitectura modular y base de datos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161323" y="2554288"/>
            <a:ext cx="959644" cy="314920"/>
          </a:xfrm>
          <a:prstGeom prst="roundRect">
            <a:avLst>
              <a:gd name="adj" fmla="val 50000"/>
            </a:avLst>
          </a:prstGeom>
          <a:solidFill>
            <a:srgbClr val="D4ECE5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F5B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Cumplido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15975" y="3252589"/>
            <a:ext cx="10560050" cy="764117"/>
          </a:xfrm>
          <a:prstGeom prst="roundRect">
            <a:avLst>
              <a:gd name="adj" fmla="val 12881"/>
            </a:avLst>
          </a:prstGeom>
          <a:solidFill>
            <a:srgbClr val="FFFFFF"/>
          </a:solidFill>
          <a:ln w="6350">
            <a:solidFill>
              <a:srgbClr val="D9DF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71033" y="3456848"/>
            <a:ext cx="457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2F7D6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680633" y="3497461"/>
            <a:ext cx="8525815" cy="299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1620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Reglas de análisis, clasificación de riesgo e interfaz de consulta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161323" y="3477155"/>
            <a:ext cx="959644" cy="314920"/>
          </a:xfrm>
          <a:prstGeom prst="roundRect">
            <a:avLst>
              <a:gd name="adj" fmla="val 50000"/>
            </a:avLst>
          </a:prstGeom>
          <a:solidFill>
            <a:srgbClr val="D4ECE5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F5B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Cumplido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5975" y="4175457"/>
            <a:ext cx="10560050" cy="764117"/>
          </a:xfrm>
          <a:prstGeom prst="roundRect">
            <a:avLst>
              <a:gd name="adj" fmla="val 12881"/>
            </a:avLst>
          </a:prstGeom>
          <a:solidFill>
            <a:srgbClr val="FFFFFF"/>
          </a:solidFill>
          <a:ln w="6350">
            <a:solidFill>
              <a:srgbClr val="D9DF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71033" y="4379714"/>
            <a:ext cx="457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2F7D6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680633" y="4420329"/>
            <a:ext cx="8590266" cy="299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1620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Metodología de trabajo y pruebas de los componentes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223897" y="4400021"/>
            <a:ext cx="897070" cy="314920"/>
          </a:xfrm>
          <a:prstGeom prst="roundRect">
            <a:avLst>
              <a:gd name="adj" fmla="val 50000"/>
            </a:avLst>
          </a:prstGeom>
          <a:solidFill>
            <a:srgbClr val="F6E2BD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7A4A0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 curso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D6B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CyberGuard · Segunda entrega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D6B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2F7D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ALCANCE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472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620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Una herramienta académica para una red autorizada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882710"/>
            <a:ext cx="5175250" cy="2465917"/>
          </a:xfrm>
          <a:prstGeom prst="roundRect">
            <a:avLst>
              <a:gd name="adj" fmla="val 3991"/>
            </a:avLst>
          </a:prstGeom>
          <a:solidFill>
            <a:srgbClr val="FFFFFF"/>
          </a:solidFill>
          <a:ln w="6350">
            <a:solidFill>
              <a:srgbClr val="D9DF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1033" y="2137767"/>
            <a:ext cx="4805087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620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Lo que hace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41391" y="2569567"/>
            <a:ext cx="4727109" cy="154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3642" indent="-183642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1620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Inventario de dispositivos y registro de eventos</a:t>
            </a:r>
            <a:endParaRPr lang="en-US" sz="1600" dirty="0"/>
          </a:p>
          <a:p>
            <a:pPr algn="l" marL="183642" indent="-183642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1620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Análisis con seis reglas configurables</a:t>
            </a:r>
            <a:endParaRPr lang="en-US" sz="1600" dirty="0"/>
          </a:p>
          <a:p>
            <a:pPr algn="l" marL="183642" indent="-183642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1620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Riesgo de 0 a 100 y alertas con seguimiento</a:t>
            </a:r>
            <a:endParaRPr lang="en-US" sz="1600" dirty="0"/>
          </a:p>
          <a:p>
            <a:pPr algn="l" marL="183642" indent="-183642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1620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Panel, reportes CSV y tres roles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200775" y="1882710"/>
            <a:ext cx="5175250" cy="2465917"/>
          </a:xfrm>
          <a:prstGeom prst="roundRect">
            <a:avLst>
              <a:gd name="adj" fmla="val 3991"/>
            </a:avLst>
          </a:prstGeom>
          <a:solidFill>
            <a:srgbClr val="FFFFFF"/>
          </a:solidFill>
          <a:ln w="6350">
            <a:solidFill>
              <a:srgbClr val="D9DF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55833" y="2137767"/>
            <a:ext cx="4805087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620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Lo que no hace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526191" y="2569567"/>
            <a:ext cx="4727109" cy="1244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3642" indent="-183642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1620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escanea la red ni captura tráfico</a:t>
            </a:r>
            <a:endParaRPr lang="en-US" sz="1600" dirty="0"/>
          </a:p>
          <a:p>
            <a:pPr algn="l" marL="183642" indent="-183642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1620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bloquea dispositivos ni conexiones</a:t>
            </a:r>
            <a:endParaRPr lang="en-US" sz="1600" dirty="0"/>
          </a:p>
          <a:p>
            <a:pPr algn="l" marL="183642" indent="-183642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1620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usa inteligencia artificial</a:t>
            </a:r>
            <a:endParaRPr lang="en-US" sz="1600" dirty="0"/>
          </a:p>
          <a:p>
            <a:pPr algn="l" marL="183642" indent="-183642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1620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sustituye un IDS o SIEM profesional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D6B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CyberGuard · Segunda entrega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D6B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2F7D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ACTORES DEL SISTEMA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472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620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Tres roles con permisos acumulativos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879535"/>
            <a:ext cx="10566400" cy="2191412"/>
          </a:xfrm>
          <a:prstGeom prst="rect">
            <a:avLst/>
          </a:prstGeom>
          <a:solidFill>
            <a:srgbClr val="FFFFFF"/>
          </a:solidFill>
          <a:ln/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892235"/>
          <a:ext cx="10553700" cy="2178711"/>
        </p:xfrm>
        <a:graphic>
          <a:graphicData uri="http://schemas.openxmlformats.org/drawingml/2006/table">
            <a:tbl>
              <a:tblPr/>
              <a:tblGrid>
                <a:gridCol w="2321814"/>
                <a:gridCol w="6121146"/>
                <a:gridCol w="2110740"/>
              </a:tblGrid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620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Rol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620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Qué puede hacer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620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Demo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620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Consulta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620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Ver panel, dispositivos, eventos y alertas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620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consulta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4868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620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Analista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620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Lo anterior, más registrar dispositivos y eventos, atender alertas, ver reglas y descargar reportes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620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analista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620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Administrador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620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Lo anterior, más gestionar usuarios y ajustar reglas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620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admin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620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Motor de análisis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620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Actor interno: evalúa cada evento, clasifica y crea la alerta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620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—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12800" y="4375745"/>
            <a:ext cx="1088339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D4A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 sesión → </a:t>
            </a:r>
            <a:r>
              <a:rPr lang="en-US" sz="1400" b="1" dirty="0">
                <a:solidFill>
                  <a:srgbClr val="3D4A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/login</a:t>
            </a:r>
            <a:r>
              <a:rPr lang="en-US" sz="1400" dirty="0">
                <a:solidFill>
                  <a:srgbClr val="3D4A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Rol insuficiente → </a:t>
            </a:r>
            <a:r>
              <a:rPr lang="en-US" sz="1400" b="1" dirty="0">
                <a:solidFill>
                  <a:srgbClr val="3D4A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/acceso-denegado</a:t>
            </a:r>
            <a:r>
              <a:rPr lang="en-US" sz="1400" dirty="0">
                <a:solidFill>
                  <a:srgbClr val="3D4A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Los botones que el rol no puede usar no se muestran.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D6B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CyberGuard · Segunda entrega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D6B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2F7D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CASOS DE USO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472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620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Registrar un evento dispara el análisis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828735"/>
            <a:ext cx="6477000" cy="35560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</p:spPr>
      </p:sp>
      <p:pic>
        <p:nvPicPr>
          <p:cNvPr id="5" name="Image 0" descr="Diagrama de casos de uso de CyberGuard con doce casos y cuatro actores">    </p:cNvPr>
          <p:cNvPicPr>
            <a:picLocks noChangeAspect="1"/>
          </p:cNvPicPr>
          <p:nvPr/>
        </p:nvPicPr>
        <p:blipFill>
          <a:blip r:embed="rId1"/>
          <a:srcRect l="0" r="0" t="-41" b="-41"/>
          <a:stretch/>
        </p:blipFill>
        <p:spPr>
          <a:xfrm>
            <a:off x="819150" y="1835085"/>
            <a:ext cx="6464300" cy="3543300"/>
          </a:xfrm>
          <a:prstGeom prst="roundRect">
            <a:avLst>
              <a:gd name="adj" fmla="val 2688"/>
            </a:avLst>
          </a:prstGeom>
        </p:spPr>
      </p:pic>
      <p:sp>
        <p:nvSpPr>
          <p:cNvPr id="6" name="Shape 3"/>
          <p:cNvSpPr/>
          <p:nvPr/>
        </p:nvSpPr>
        <p:spPr>
          <a:xfrm>
            <a:off x="815975" y="1831910"/>
            <a:ext cx="6470650" cy="3549650"/>
          </a:xfrm>
          <a:prstGeom prst="roundRect">
            <a:avLst>
              <a:gd name="adj" fmla="val 2773"/>
            </a:avLst>
          </a:prstGeom>
          <a:noFill/>
          <a:ln w="6350">
            <a:solidFill>
              <a:srgbClr val="D9DFD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543800" y="2819468"/>
            <a:ext cx="3950462" cy="5942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620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 casos de uso, de CU01 Iniciar sesión a CU12 Gestionar usuarios.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543800" y="3540720"/>
            <a:ext cx="3950462" cy="878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620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CU05 Registrar evento </a:t>
            </a:r>
            <a:r>
              <a:rPr lang="en-US" sz="1600" b="1" dirty="0">
                <a:solidFill>
                  <a:srgbClr val="1620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incluye</a:t>
            </a:r>
            <a:r>
              <a:rPr lang="en-US" sz="1600" dirty="0">
                <a:solidFill>
                  <a:srgbClr val="1620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CU06 Analizar, que </a:t>
            </a:r>
            <a:r>
              <a:rPr lang="en-US" sz="1600" b="1" dirty="0">
                <a:solidFill>
                  <a:srgbClr val="1620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incluye</a:t>
            </a:r>
            <a:r>
              <a:rPr lang="en-US" sz="1600" dirty="0">
                <a:solidFill>
                  <a:srgbClr val="1620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CU07 Clasificar y alertar.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D6B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CyberGuard · Segunda entrega · Figura 1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D6B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812800"/>
            <a:ext cx="4826000" cy="502920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/>
        </p:spPr>
      </p:sp>
      <p:pic>
        <p:nvPicPr>
          <p:cNvPr id="3" name="Image 0" descr="Arquitectura por capas: navegador, Spring Security, presentación, negocio, motor de análisis, acceso a datos y MySQL">    </p:cNvPr>
          <p:cNvPicPr>
            <a:picLocks noChangeAspect="1"/>
          </p:cNvPicPr>
          <p:nvPr/>
        </p:nvPicPr>
        <p:blipFill>
          <a:blip r:embed="rId1"/>
          <a:srcRect l="0" r="0" t="-50" b="-50"/>
          <a:stretch/>
        </p:blipFill>
        <p:spPr>
          <a:xfrm>
            <a:off x="819150" y="819150"/>
            <a:ext cx="4813300" cy="5016500"/>
          </a:xfrm>
          <a:prstGeom prst="roundRect">
            <a:avLst>
              <a:gd name="adj" fmla="val 1979"/>
            </a:avLst>
          </a:prstGeom>
        </p:spPr>
      </p:pic>
      <p:sp>
        <p:nvSpPr>
          <p:cNvPr id="4" name="Shape 1"/>
          <p:cNvSpPr/>
          <p:nvPr/>
        </p:nvSpPr>
        <p:spPr>
          <a:xfrm>
            <a:off x="815975" y="815975"/>
            <a:ext cx="4819650" cy="5022850"/>
          </a:xfrm>
          <a:prstGeom prst="roundRect">
            <a:avLst>
              <a:gd name="adj" fmla="val 2042"/>
            </a:avLst>
          </a:prstGeom>
          <a:noFill/>
          <a:ln w="6350">
            <a:solidFill>
              <a:srgbClr val="D9DFD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994400" y="1186526"/>
            <a:ext cx="554634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2F7D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ARQUITECTURA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994400" y="1501446"/>
            <a:ext cx="5546344" cy="9194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620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 monolito web organizado en capas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5994400" y="2598672"/>
            <a:ext cx="5384800" cy="2168525"/>
          </a:xfrm>
          <a:prstGeom prst="rect">
            <a:avLst/>
          </a:prstGeom>
          <a:solidFill>
            <a:srgbClr val="FFFFFF"/>
          </a:solidFill>
          <a:ln/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07100" y="2611372"/>
          <a:ext cx="5372100" cy="2155825"/>
        </p:xfrm>
        <a:graphic>
          <a:graphicData uri="http://schemas.openxmlformats.org/drawingml/2006/table">
            <a:tbl>
              <a:tblPr/>
              <a:tblGrid>
                <a:gridCol w="2041398"/>
                <a:gridCol w="3330702"/>
              </a:tblGrid>
              <a:tr h="359304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620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Capa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620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Paquete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</a:tr>
              <a:tr h="359304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20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Seguridad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20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config/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04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20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Presentación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20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web/ · templates/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04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20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Negocio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20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service/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04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20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Análisis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20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analysis/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04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20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Datos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20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repository/ · domain/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5994400" y="4970397"/>
            <a:ext cx="5546344" cy="523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D4A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capa solo llama a la de abajo, por inyección en el constructor.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D6B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018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691748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5BB8A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FLUJO PRINCIPAL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2006668"/>
            <a:ext cx="10883392" cy="9194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EEF2E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Cada evento se analiza en el momento en que se registra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3307094"/>
            <a:ext cx="1676400" cy="1655895"/>
          </a:xfrm>
          <a:prstGeom prst="roundRect">
            <a:avLst>
              <a:gd name="adj" fmla="val 6136"/>
            </a:avLst>
          </a:prstGeom>
          <a:solidFill>
            <a:srgbClr val="1B2A36"/>
          </a:solidFill>
          <a:ln/>
        </p:spPr>
      </p:sp>
      <p:sp>
        <p:nvSpPr>
          <p:cNvPr id="5" name="Text 3"/>
          <p:cNvSpPr/>
          <p:nvPr/>
        </p:nvSpPr>
        <p:spPr>
          <a:xfrm>
            <a:off x="965200" y="3510294"/>
            <a:ext cx="14224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BB8A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65200" y="3799815"/>
            <a:ext cx="1422400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EEF2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Registro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5200" y="4119829"/>
            <a:ext cx="142240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9C6C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Formulario validado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590800" y="3307094"/>
            <a:ext cx="1676400" cy="1655895"/>
          </a:xfrm>
          <a:prstGeom prst="roundRect">
            <a:avLst>
              <a:gd name="adj" fmla="val 6136"/>
            </a:avLst>
          </a:prstGeom>
          <a:solidFill>
            <a:srgbClr val="1B2A36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0" y="3510294"/>
            <a:ext cx="14224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BB8A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43200" y="3799815"/>
            <a:ext cx="1422400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EEF2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Guardado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743200" y="4119829"/>
            <a:ext cx="14224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9C6C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Evento en MySQL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68800" y="3307094"/>
            <a:ext cx="1676400" cy="1655895"/>
          </a:xfrm>
          <a:prstGeom prst="roundRect">
            <a:avLst>
              <a:gd name="adj" fmla="val 6136"/>
            </a:avLst>
          </a:prstGeom>
          <a:solidFill>
            <a:srgbClr val="1B2A36"/>
          </a:solidFill>
          <a:ln/>
        </p:spPr>
      </p:sp>
      <p:sp>
        <p:nvSpPr>
          <p:cNvPr id="13" name="Text 11"/>
          <p:cNvSpPr/>
          <p:nvPr/>
        </p:nvSpPr>
        <p:spPr>
          <a:xfrm>
            <a:off x="4521200" y="3510294"/>
            <a:ext cx="14224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BB8A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21200" y="3799815"/>
            <a:ext cx="1422400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EEF2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Reglas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21200" y="4119829"/>
            <a:ext cx="1422400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9C6C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Solo las activas, con el historial de la IP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46800" y="3307094"/>
            <a:ext cx="1676400" cy="1655895"/>
          </a:xfrm>
          <a:prstGeom prst="roundRect">
            <a:avLst>
              <a:gd name="adj" fmla="val 6136"/>
            </a:avLst>
          </a:prstGeom>
          <a:solidFill>
            <a:srgbClr val="1B2A36"/>
          </a:solidFill>
          <a:ln/>
        </p:spPr>
      </p:sp>
      <p:sp>
        <p:nvSpPr>
          <p:cNvPr id="17" name="Text 15"/>
          <p:cNvSpPr/>
          <p:nvPr/>
        </p:nvSpPr>
        <p:spPr>
          <a:xfrm>
            <a:off x="6299200" y="3510294"/>
            <a:ext cx="14224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BB8A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99200" y="3799815"/>
            <a:ext cx="1422400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EEF2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Puntos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299200" y="4119829"/>
            <a:ext cx="142240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9C6C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Suma limitada de 0 a 100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924800" y="3307094"/>
            <a:ext cx="1676400" cy="1655895"/>
          </a:xfrm>
          <a:prstGeom prst="roundRect">
            <a:avLst>
              <a:gd name="adj" fmla="val 6136"/>
            </a:avLst>
          </a:prstGeom>
          <a:solidFill>
            <a:srgbClr val="1B2A36"/>
          </a:solidFill>
          <a:ln/>
        </p:spPr>
      </p:sp>
      <p:sp>
        <p:nvSpPr>
          <p:cNvPr id="21" name="Text 19"/>
          <p:cNvSpPr/>
          <p:nvPr/>
        </p:nvSpPr>
        <p:spPr>
          <a:xfrm>
            <a:off x="8077200" y="3510294"/>
            <a:ext cx="14224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BB8A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077200" y="3799815"/>
            <a:ext cx="1422400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EEF2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Nivel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077200" y="4119829"/>
            <a:ext cx="142240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9C6C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Bajo, medio, alto o crítico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702800" y="3307094"/>
            <a:ext cx="1676400" cy="1655895"/>
          </a:xfrm>
          <a:prstGeom prst="roundRect">
            <a:avLst>
              <a:gd name="adj" fmla="val 6136"/>
            </a:avLst>
          </a:prstGeom>
          <a:solidFill>
            <a:srgbClr val="5BB8A4"/>
          </a:solidFill>
          <a:ln/>
        </p:spPr>
      </p:sp>
      <p:sp>
        <p:nvSpPr>
          <p:cNvPr id="25" name="Text 23"/>
          <p:cNvSpPr/>
          <p:nvPr/>
        </p:nvSpPr>
        <p:spPr>
          <a:xfrm>
            <a:off x="9855200" y="3510294"/>
            <a:ext cx="14224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F2A2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6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855200" y="3799815"/>
            <a:ext cx="1422400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F2A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Alerta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855200" y="4119829"/>
            <a:ext cx="142240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F2A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Una por evento, en estado pendiente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3A4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CyberGuard · Segunda entrega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3A4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2F7D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DIAGRAMA DE SECUENCIA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472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620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 POST /eventos a la alerta, en 22 pasos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828738"/>
            <a:ext cx="10566400" cy="368300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/>
        </p:spPr>
      </p:sp>
      <p:pic>
        <p:nvPicPr>
          <p:cNvPr id="5" name="Image 0" descr="Diagrama de secuencia del registro de un evento: controlador, servicio, repositorios, motor, reglas, clasificador, servicio de alertas y MySQ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23001" y="1835088"/>
            <a:ext cx="6545999" cy="36703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15975" y="1831913"/>
            <a:ext cx="10560050" cy="3676650"/>
          </a:xfrm>
          <a:prstGeom prst="roundRect">
            <a:avLst>
              <a:gd name="adj" fmla="val 2677"/>
            </a:avLst>
          </a:prstGeom>
          <a:noFill/>
          <a:ln w="6350">
            <a:solidFill>
              <a:srgbClr val="D9DFD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D6B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CyberGuard · Segunda entrega · Figura 6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D6B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2F7D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MOTOR DE ANÁLISIS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9194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620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Patrón estrategia: la condición en Java, los números en la base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2278924"/>
            <a:ext cx="3295650" cy="1078971"/>
          </a:xfrm>
          <a:prstGeom prst="roundRect">
            <a:avLst>
              <a:gd name="adj" fmla="val 9122"/>
            </a:avLst>
          </a:prstGeom>
          <a:solidFill>
            <a:srgbClr val="FFFFFF"/>
          </a:solidFill>
          <a:ln w="6350">
            <a:solidFill>
              <a:srgbClr val="D9DF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0233" y="2457785"/>
            <a:ext cx="2973747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620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ReglaDeteccion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20233" y="2752396"/>
            <a:ext cx="2973747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A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Interfaz con codigo() y evaluar(). Seis clases la implementan.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15975" y="3516647"/>
            <a:ext cx="3295650" cy="1078971"/>
          </a:xfrm>
          <a:prstGeom prst="roundRect">
            <a:avLst>
              <a:gd name="adj" fmla="val 9122"/>
            </a:avLst>
          </a:prstGeom>
          <a:solidFill>
            <a:srgbClr val="FFFFFF"/>
          </a:solidFill>
          <a:ln w="6350">
            <a:solidFill>
              <a:srgbClr val="D9DF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0233" y="3695502"/>
            <a:ext cx="2973747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620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Tabla reglas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20233" y="3990119"/>
            <a:ext cx="2973747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A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Puntos, umbral, ventana y activa. El administrador los ajusta.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15975" y="4754364"/>
            <a:ext cx="3295650" cy="1078971"/>
          </a:xfrm>
          <a:prstGeom prst="roundRect">
            <a:avLst>
              <a:gd name="adj" fmla="val 9122"/>
            </a:avLst>
          </a:prstGeom>
          <a:solidFill>
            <a:srgbClr val="FFFFFF"/>
          </a:solidFill>
          <a:ln w="6350">
            <a:solidFill>
              <a:srgbClr val="D9DF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0233" y="4933224"/>
            <a:ext cx="2973747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620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Mapa por código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20233" y="5227836"/>
            <a:ext cx="2973747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A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Una regla nueva no obliga a cambiar el motor.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68800" y="2405131"/>
            <a:ext cx="7010400" cy="33020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</p:spPr>
      </p:sp>
      <p:pic>
        <p:nvPicPr>
          <p:cNvPr id="14" name="Image 0" descr="Diagrama de clases del motor: MotorAnalisis, ClasificadorRiesgo, interfaz ReglaDeteccion y sus seis implementacion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75150" y="2577209"/>
            <a:ext cx="6997700" cy="2957843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4371975" y="2408306"/>
            <a:ext cx="7004050" cy="3295650"/>
          </a:xfrm>
          <a:prstGeom prst="roundRect">
            <a:avLst>
              <a:gd name="adj" fmla="val 2987"/>
            </a:avLst>
          </a:prstGeom>
          <a:noFill/>
          <a:ln w="6350">
            <a:solidFill>
              <a:srgbClr val="D9DFD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D6B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CyberGuard · Segunda entrega · Figura 4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D6B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2F7D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REGLAS IMPLEMENTADAS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472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620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Seis comportamientos que el motor reconoce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879538"/>
            <a:ext cx="10566400" cy="2527829"/>
          </a:xfrm>
          <a:prstGeom prst="rect">
            <a:avLst/>
          </a:prstGeom>
          <a:solidFill>
            <a:srgbClr val="FFFFFF"/>
          </a:solidFill>
          <a:ln/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892238"/>
          <a:ext cx="10553700" cy="2515129"/>
        </p:xfrm>
        <a:graphic>
          <a:graphicData uri="http://schemas.openxmlformats.org/drawingml/2006/table">
            <a:tbl>
              <a:tblPr/>
              <a:tblGrid>
                <a:gridCol w="2849499"/>
                <a:gridCol w="4854702"/>
                <a:gridCol w="949833"/>
                <a:gridCol w="949833"/>
                <a:gridCol w="949833"/>
              </a:tblGrid>
              <a:tr h="359304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620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Regla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620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 cumple cuando…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620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Puntos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620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Umbral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620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Ventana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</a:tr>
              <a:tr h="359304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20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No registrado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20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La IP no está en el inventario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20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10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20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20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 min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04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20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Actividad inusual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20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El evento es de tipo actividad inusual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20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10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20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20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60 min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04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20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Repetición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20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La IP repite el mismo tipo de evento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20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15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20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20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10 min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04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20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Múltiples intentos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20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Intentos de conexión acumulados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20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20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20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8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20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 min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04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20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Escaneo de puertos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20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Puertos distintos tocados por la IP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20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25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20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20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 min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04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20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Acumulación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20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Eventos de importancia alta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20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30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20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20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30 min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12800" y="4712165"/>
            <a:ext cx="1088339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D4A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historial incluye el evento actual: umbral 5 significa cinco eventos en la ventana, contando el que se acaba de guardar.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D6B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CyberGuard · Segunda entrega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D6B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018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5BB8A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CLASIFICACIÓN DE RIESGO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472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EEF2E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 suman los puntos de las reglas cumplidas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930338"/>
            <a:ext cx="2565400" cy="1361347"/>
          </a:xfrm>
          <a:prstGeom prst="roundRect">
            <a:avLst>
              <a:gd name="adj" fmla="val 7463"/>
            </a:avLst>
          </a:prstGeom>
          <a:solidFill>
            <a:srgbClr val="CFE8DF"/>
          </a:solidFill>
          <a:ln/>
        </p:spPr>
      </p:sp>
      <p:sp>
        <p:nvSpPr>
          <p:cNvPr id="5" name="Text 3"/>
          <p:cNvSpPr/>
          <p:nvPr/>
        </p:nvSpPr>
        <p:spPr>
          <a:xfrm>
            <a:off x="1041400" y="2158938"/>
            <a:ext cx="2171446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1230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0–20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041400" y="2778658"/>
            <a:ext cx="2171446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230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Bajo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479800" y="1930338"/>
            <a:ext cx="2565400" cy="1361347"/>
          </a:xfrm>
          <a:prstGeom prst="roundRect">
            <a:avLst>
              <a:gd name="adj" fmla="val 7463"/>
            </a:avLst>
          </a:prstGeom>
          <a:solidFill>
            <a:srgbClr val="F3D38A"/>
          </a:solidFill>
          <a:ln/>
        </p:spPr>
      </p:sp>
      <p:sp>
        <p:nvSpPr>
          <p:cNvPr id="8" name="Text 6"/>
          <p:cNvSpPr/>
          <p:nvPr/>
        </p:nvSpPr>
        <p:spPr>
          <a:xfrm>
            <a:off x="3708400" y="2158938"/>
            <a:ext cx="2171446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3A2A0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21–50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708400" y="2778658"/>
            <a:ext cx="2171446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3A2A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Medio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146800" y="1930338"/>
            <a:ext cx="2565400" cy="1361347"/>
          </a:xfrm>
          <a:prstGeom prst="roundRect">
            <a:avLst>
              <a:gd name="adj" fmla="val 7463"/>
            </a:avLst>
          </a:prstGeom>
          <a:solidFill>
            <a:srgbClr val="D9822B"/>
          </a:solidFill>
          <a:ln/>
        </p:spPr>
      </p:sp>
      <p:sp>
        <p:nvSpPr>
          <p:cNvPr id="11" name="Text 9"/>
          <p:cNvSpPr/>
          <p:nvPr/>
        </p:nvSpPr>
        <p:spPr>
          <a:xfrm>
            <a:off x="6375400" y="2158938"/>
            <a:ext cx="2171446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1F120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51–80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375400" y="2778658"/>
            <a:ext cx="2171446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F120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Alto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813800" y="1930338"/>
            <a:ext cx="2565400" cy="1361347"/>
          </a:xfrm>
          <a:prstGeom prst="roundRect">
            <a:avLst>
              <a:gd name="adj" fmla="val 7463"/>
            </a:avLst>
          </a:prstGeom>
          <a:solidFill>
            <a:srgbClr val="8E2F22"/>
          </a:solidFill>
          <a:ln/>
        </p:spPr>
      </p:sp>
      <p:sp>
        <p:nvSpPr>
          <p:cNvPr id="14" name="Text 12"/>
          <p:cNvSpPr/>
          <p:nvPr/>
        </p:nvSpPr>
        <p:spPr>
          <a:xfrm>
            <a:off x="9042400" y="2158938"/>
            <a:ext cx="2171446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FBEAE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81–100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9042400" y="2778658"/>
            <a:ext cx="2171446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BEA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Crítico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12800" y="3647281"/>
            <a:ext cx="10883392" cy="5942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C9D3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Ejemplo real: IP 192.168.10.77 no registrada </a:t>
            </a:r>
            <a:r>
              <a:rPr lang="en-US" sz="1600" b="1" dirty="0">
                <a:solidFill>
                  <a:srgbClr val="C9D3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(10)</a:t>
            </a:r>
            <a:r>
              <a:rPr lang="en-US" sz="1600" dirty="0">
                <a:solidFill>
                  <a:srgbClr val="C9D3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+ actividad inusual </a:t>
            </a:r>
            <a:r>
              <a:rPr lang="en-US" sz="1600" b="1" dirty="0">
                <a:solidFill>
                  <a:srgbClr val="C9D3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(10)</a:t>
            </a:r>
            <a:r>
              <a:rPr lang="en-US" sz="1600" dirty="0">
                <a:solidFill>
                  <a:srgbClr val="C9D3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= </a:t>
            </a:r>
            <a:r>
              <a:rPr lang="en-US" sz="1600" b="1" dirty="0">
                <a:solidFill>
                  <a:srgbClr val="5BB8A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 puntos → Bajo</a:t>
            </a:r>
            <a:r>
              <a:rPr lang="en-US" sz="1600" dirty="0">
                <a:solidFill>
                  <a:srgbClr val="C9D3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Una alerta alta o crítica pide revisión humana; no es un dictamen de ataque.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3A4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CyberGuard · Segunda entrega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3A4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812800"/>
            <a:ext cx="5080000" cy="5029200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/>
        </p:spPr>
      </p:sp>
      <p:pic>
        <p:nvPicPr>
          <p:cNvPr id="3" name="Image 0" descr="Modelo entidad-relación: usuarios, dispositivos, eventos, alertas, reglas y alerta_regl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9150" y="899929"/>
            <a:ext cx="5067300" cy="4854942"/>
          </a:xfrm>
          <a:custGeom>
            <a:avLst/>
            <a:gdLst/>
            <a:ahLst/>
            <a:cxnLst/>
            <a:rect l="l" t="t" r="r" b="b"/>
            <a:pathLst>
              <a:path w="5067300" h="4854942">
                <a:moveTo>
                  <a:pt x="0" y="14471"/>
                </a:moveTo>
                <a:arcTo wR="95250" hR="95250" stAng="10800000" swAng="524316"/>
                <a:lnTo>
                  <a:pt x="5066194" y="0"/>
                </a:lnTo>
                <a:arcTo wR="95250" hR="95250" stAng="21075684" swAng="524316"/>
                <a:lnTo>
                  <a:pt x="5067300" y="4840471"/>
                </a:lnTo>
                <a:arcTo wR="95250" hR="95250" stAng="0" swAng="524316"/>
                <a:lnTo>
                  <a:pt x="1106" y="4854942"/>
                </a:lnTo>
                <a:arcTo wR="95250" hR="95250" stAng="10275684" swAng="524316"/>
                <a:close/>
              </a:path>
            </a:pathLst>
          </a:custGeom>
        </p:spPr>
      </p:pic>
      <p:sp>
        <p:nvSpPr>
          <p:cNvPr id="4" name="Shape 1"/>
          <p:cNvSpPr/>
          <p:nvPr/>
        </p:nvSpPr>
        <p:spPr>
          <a:xfrm>
            <a:off x="815975" y="815975"/>
            <a:ext cx="5073650" cy="5022850"/>
          </a:xfrm>
          <a:prstGeom prst="roundRect">
            <a:avLst>
              <a:gd name="adj" fmla="val 1960"/>
            </a:avLst>
          </a:prstGeom>
          <a:noFill/>
          <a:ln w="6350">
            <a:solidFill>
              <a:srgbClr val="D9DFD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248400" y="1954547"/>
            <a:ext cx="528472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2F7D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MODELO DE DATOS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248400" y="2269468"/>
            <a:ext cx="5284724" cy="9194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620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Cinco tablas y una de unión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6332982" y="3366691"/>
            <a:ext cx="5192522" cy="1358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9418" indent="-169418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1620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evento guarda su propia IP; el dispositivo es opcional</a:t>
            </a:r>
            <a:endParaRPr lang="en-US" sz="1400" dirty="0"/>
          </a:p>
          <a:p>
            <a:pPr algn="l" marL="169418" indent="-169418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1620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Una alerta por evento, ligada a todas las reglas cumplidas</a:t>
            </a:r>
            <a:endParaRPr lang="en-US" sz="1400" dirty="0"/>
          </a:p>
          <a:p>
            <a:pPr algn="l" marL="169418" indent="-169418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1620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Puntos y nivel quedan fijos en la alerta</a:t>
            </a:r>
            <a:endParaRPr lang="en-US" sz="1400" dirty="0"/>
          </a:p>
          <a:p>
            <a:pPr algn="l" marL="169418" indent="-169418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1620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Enums guardados como texto</a:t>
            </a:r>
            <a:endParaRPr lang="en-US" sz="1400" dirty="0"/>
          </a:p>
          <a:p>
            <a:pPr algn="l" marL="169418" indent="-169418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1620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Hibernate crea el esquema al arrancar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D6B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2F7D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TECNOLOGÍAS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472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620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Java y el ecosistema Spring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882713"/>
            <a:ext cx="3414183" cy="865651"/>
          </a:xfrm>
          <a:prstGeom prst="roundRect">
            <a:avLst>
              <a:gd name="adj" fmla="val 11370"/>
            </a:avLst>
          </a:prstGeom>
          <a:solidFill>
            <a:srgbClr val="FFFFFF"/>
          </a:solidFill>
          <a:ln w="6350">
            <a:solidFill>
              <a:srgbClr val="D9DF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0233" y="2061567"/>
            <a:ext cx="3095837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620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Java 21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20233" y="2356185"/>
            <a:ext cx="309583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A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Lenguaje principal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88908" y="1882713"/>
            <a:ext cx="3414183" cy="865651"/>
          </a:xfrm>
          <a:prstGeom prst="roundRect">
            <a:avLst>
              <a:gd name="adj" fmla="val 11370"/>
            </a:avLst>
          </a:prstGeom>
          <a:solidFill>
            <a:srgbClr val="FFFFFF"/>
          </a:solidFill>
          <a:ln w="6350">
            <a:solidFill>
              <a:srgbClr val="D9DF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93167" y="2061567"/>
            <a:ext cx="3095837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620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Spring Boot 3.5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93167" y="2356185"/>
            <a:ext cx="309583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A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Tomcat embebido en :8080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961842" y="1882713"/>
            <a:ext cx="3414183" cy="865651"/>
          </a:xfrm>
          <a:prstGeom prst="roundRect">
            <a:avLst>
              <a:gd name="adj" fmla="val 11370"/>
            </a:avLst>
          </a:prstGeom>
          <a:solidFill>
            <a:srgbClr val="FFFFFF"/>
          </a:solidFill>
          <a:ln w="6350">
            <a:solidFill>
              <a:srgbClr val="D9DF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66100" y="2061567"/>
            <a:ext cx="3095837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620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Spring Security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166100" y="2356185"/>
            <a:ext cx="309583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A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Roles, CSRF y BCrypt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5975" y="2907109"/>
            <a:ext cx="3414183" cy="865651"/>
          </a:xfrm>
          <a:prstGeom prst="roundRect">
            <a:avLst>
              <a:gd name="adj" fmla="val 11370"/>
            </a:avLst>
          </a:prstGeom>
          <a:solidFill>
            <a:srgbClr val="FFFFFF"/>
          </a:solidFill>
          <a:ln w="6350">
            <a:solidFill>
              <a:srgbClr val="D9DF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20233" y="3085970"/>
            <a:ext cx="3095837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620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Thymeleaf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20233" y="3380581"/>
            <a:ext cx="309583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A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HTML generado en el servidor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88908" y="2907109"/>
            <a:ext cx="3414183" cy="865651"/>
          </a:xfrm>
          <a:prstGeom prst="roundRect">
            <a:avLst>
              <a:gd name="adj" fmla="val 11370"/>
            </a:avLst>
          </a:prstGeom>
          <a:solidFill>
            <a:srgbClr val="FFFFFF"/>
          </a:solidFill>
          <a:ln w="6350">
            <a:solidFill>
              <a:srgbClr val="D9DF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93167" y="3085970"/>
            <a:ext cx="3095837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620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JPA · Hibernate 6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593167" y="3380581"/>
            <a:ext cx="309583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A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Repositorios Spring Data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961842" y="2907109"/>
            <a:ext cx="3414183" cy="865651"/>
          </a:xfrm>
          <a:prstGeom prst="roundRect">
            <a:avLst>
              <a:gd name="adj" fmla="val 11370"/>
            </a:avLst>
          </a:prstGeom>
          <a:solidFill>
            <a:srgbClr val="FFFFFF"/>
          </a:solidFill>
          <a:ln w="6350">
            <a:solidFill>
              <a:srgbClr val="D9DF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66100" y="3085970"/>
            <a:ext cx="3095837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620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MySQL / MariaDB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166100" y="3380581"/>
            <a:ext cx="309583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A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XAMPP o Laragon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15975" y="3931512"/>
            <a:ext cx="3414183" cy="865651"/>
          </a:xfrm>
          <a:prstGeom prst="roundRect">
            <a:avLst>
              <a:gd name="adj" fmla="val 11370"/>
            </a:avLst>
          </a:prstGeom>
          <a:solidFill>
            <a:srgbClr val="FFFFFF"/>
          </a:solidFill>
          <a:ln w="6350">
            <a:solidFill>
              <a:srgbClr val="D9DF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20233" y="4110372"/>
            <a:ext cx="3095837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620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H2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20233" y="4404984"/>
            <a:ext cx="309583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A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 en memoria para pruebas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388908" y="3931512"/>
            <a:ext cx="3414183" cy="865651"/>
          </a:xfrm>
          <a:prstGeom prst="roundRect">
            <a:avLst>
              <a:gd name="adj" fmla="val 11370"/>
            </a:avLst>
          </a:prstGeom>
          <a:solidFill>
            <a:srgbClr val="FFFFFF"/>
          </a:solidFill>
          <a:ln w="6350">
            <a:solidFill>
              <a:srgbClr val="D9DFD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93167" y="4110372"/>
            <a:ext cx="3095837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620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JUnit 5 · Mockito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593167" y="4404984"/>
            <a:ext cx="309583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A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Pruebas unitarias e integración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961842" y="3931512"/>
            <a:ext cx="3414183" cy="865651"/>
          </a:xfrm>
          <a:prstGeom prst="roundRect">
            <a:avLst>
              <a:gd name="adj" fmla="val 11370"/>
            </a:avLst>
          </a:prstGeom>
          <a:solidFill>
            <a:srgbClr val="FFFFFF"/>
          </a:solidFill>
          <a:ln w="6350">
            <a:solidFill>
              <a:srgbClr val="D9DF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166100" y="4110372"/>
            <a:ext cx="3095837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620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Maven Wrapper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166100" y="4404984"/>
            <a:ext cx="309583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A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 y GitHub para versiones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D6B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CyberGuard · Segunda entrega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D6B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018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011697"/>
            <a:ext cx="468299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5BB8A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SISTEMA FUNCIONANDO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2326618"/>
            <a:ext cx="4682998" cy="9194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EEF2E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Panel con los indicadores de la red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83158" y="3423841"/>
            <a:ext cx="4605020" cy="1244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3642" indent="-183642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C9D3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dispositivos, 20 eventos, 9 alertas</a:t>
            </a:r>
            <a:endParaRPr lang="en-US" sz="1600" dirty="0"/>
          </a:p>
          <a:p>
            <a:pPr algn="l" marL="183642" indent="-183642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C9D3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Conteo de alertas altas y críticas</a:t>
            </a:r>
            <a:endParaRPr lang="en-US" sz="1600" dirty="0"/>
          </a:p>
          <a:p>
            <a:pPr algn="l" marL="183642" indent="-183642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C9D3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Últimos 8 eventos y últimas 5 alertas</a:t>
            </a:r>
            <a:endParaRPr lang="en-US" sz="1600" dirty="0"/>
          </a:p>
          <a:p>
            <a:pPr algn="l" marL="183642" indent="-183642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C9D3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Menú según el rol</a:t>
            </a:r>
            <a:endParaRPr lang="en-US" sz="1600" dirty="0"/>
          </a:p>
        </p:txBody>
      </p:sp>
      <p:pic>
        <p:nvPicPr>
          <p:cNvPr id="5" name="Image 0" descr="Captura del panel de CyberGuard con indicadores y eventos y alertas recientes">    </p:cNvPr>
          <p:cNvPicPr>
            <a:picLocks noChangeAspect="1"/>
          </p:cNvPicPr>
          <p:nvPr/>
        </p:nvPicPr>
        <p:blipFill>
          <a:blip r:embed="rId1"/>
          <a:srcRect l="-12" r="-12" t="0" b="0"/>
          <a:stretch/>
        </p:blipFill>
        <p:spPr>
          <a:xfrm>
            <a:off x="5765800" y="812800"/>
            <a:ext cx="5613400" cy="5029200"/>
          </a:xfrm>
          <a:prstGeom prst="roundRect">
            <a:avLst>
              <a:gd name="adj" fmla="val 2020"/>
            </a:avLst>
          </a:prstGeom>
        </p:spPr>
      </p:pic>
      <p:sp>
        <p:nvSpPr>
          <p:cNvPr id="6" name="Text 3"/>
          <p:cNvSpPr/>
          <p:nvPr/>
        </p:nvSpPr>
        <p:spPr>
          <a:xfrm>
            <a:off x="812800" y="6238280"/>
            <a:ext cx="52324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3A4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CyberGuard · Segunda entrega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3A4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018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aptura del detalle de la alerta 9 con dos reglas activadas y el formulario de seguimiento">    </p:cNvPr>
          <p:cNvPicPr>
            <a:picLocks noChangeAspect="1"/>
          </p:cNvPicPr>
          <p:nvPr/>
        </p:nvPicPr>
        <p:blipFill>
          <a:blip r:embed="rId1"/>
          <a:srcRect l="-12" r="-12" t="0" b="0"/>
          <a:stretch/>
        </p:blipFill>
        <p:spPr>
          <a:xfrm>
            <a:off x="812800" y="812800"/>
            <a:ext cx="5613400" cy="5029200"/>
          </a:xfrm>
          <a:prstGeom prst="roundRect">
            <a:avLst>
              <a:gd name="adj" fmla="val 2020"/>
            </a:avLst>
          </a:prstGeom>
        </p:spPr>
      </p:pic>
      <p:sp>
        <p:nvSpPr>
          <p:cNvPr id="3" name="Text 0"/>
          <p:cNvSpPr/>
          <p:nvPr/>
        </p:nvSpPr>
        <p:spPr>
          <a:xfrm>
            <a:off x="6832600" y="1859297"/>
            <a:ext cx="468299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5BB8A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SISTEMA FUNCIONANDO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832600" y="2174218"/>
            <a:ext cx="4682998" cy="9194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EEF2E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Cada alerta explica por qué existe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6902958" y="3271441"/>
            <a:ext cx="4605020" cy="154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3642" indent="-183642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C9D3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Reglas activadas y sus puntos</a:t>
            </a:r>
            <a:endParaRPr lang="en-US" sz="1600" dirty="0"/>
          </a:p>
          <a:p>
            <a:pPr algn="l" marL="183642" indent="-183642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C9D3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Estado: pendiente, en revisión, atendida o cerrada</a:t>
            </a:r>
            <a:endParaRPr lang="en-US" sz="1600" dirty="0"/>
          </a:p>
          <a:p>
            <a:pPr algn="l" marL="183642" indent="-183642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C9D3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Nota de quien la revisa</a:t>
            </a:r>
            <a:endParaRPr lang="en-US" sz="1600" dirty="0"/>
          </a:p>
          <a:p>
            <a:pPr algn="l" marL="183642" indent="-183642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C9D3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rol consulta la ve sin formulario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3A4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2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2F7D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PRUEBAS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472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620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8 pruebas automáticas, todas aprobadas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937742"/>
            <a:ext cx="2616200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000"/>
              </a:lnSpc>
              <a:buNone/>
            </a:pPr>
            <a:r>
              <a:rPr lang="en-US" sz="8000" b="1" dirty="0">
                <a:solidFill>
                  <a:srgbClr val="2F7D6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8/8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812800" y="3004542"/>
            <a:ext cx="2616200" cy="523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D4A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 fallos · 0 errores</a:t>
            </a:r>
            <a:endParaRPr lang="en-US" sz="1400" dirty="0"/>
          </a:p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D4A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 sep 2026 · base H2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0" y="1879538"/>
            <a:ext cx="7721600" cy="1681030"/>
          </a:xfrm>
          <a:prstGeom prst="rect">
            <a:avLst/>
          </a:prstGeom>
          <a:solidFill>
            <a:srgbClr val="FFFFFF"/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70300" y="1892238"/>
          <a:ext cx="7708900" cy="1668330"/>
        </p:xfrm>
        <a:graphic>
          <a:graphicData uri="http://schemas.openxmlformats.org/drawingml/2006/table">
            <a:tbl>
              <a:tblPr/>
              <a:tblGrid>
                <a:gridCol w="2775204"/>
                <a:gridCol w="3546094"/>
                <a:gridCol w="1387602"/>
              </a:tblGrid>
              <a:tr h="359304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620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Clase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620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Qué verifica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620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Pruebas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</a:tr>
              <a:tr h="359304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20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ClasificadorRiesgo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20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Cortes 20/21, 50/51, 80/81 y tope 0–100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20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0418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20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MotorAnalisis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20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No registrado, intentos, escaneo y suma de reglas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20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04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20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SeguridadAcceso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20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403 para consulta; anónimo a /login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20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812800" y="3865364"/>
            <a:ext cx="1088339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D4A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Además, 11 pruebas funcionales manuales con los tres usuarios, respaldadas con capturas.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D6B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CyberGuard · Segunda entrega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D6B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2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2F7D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PROBLEMAS Y SOLUCIONES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472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620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Lo que tuvimos que resolver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882713"/>
            <a:ext cx="5200650" cy="1155171"/>
          </a:xfrm>
          <a:prstGeom prst="roundRect">
            <a:avLst>
              <a:gd name="adj" fmla="val 8520"/>
            </a:avLst>
          </a:prstGeom>
          <a:solidFill>
            <a:srgbClr val="FFFFFF"/>
          </a:solidFill>
          <a:ln w="6350">
            <a:solidFill>
              <a:srgbClr val="D9DF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5633" y="2086967"/>
            <a:ext cx="4883573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620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MariaDB y Hibernate 6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45633" y="2406985"/>
            <a:ext cx="4883573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A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lectura de metadata fallaba. Dialecto fijado a mano y metadata desactivada.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175375" y="1882713"/>
            <a:ext cx="5200650" cy="1155171"/>
          </a:xfrm>
          <a:prstGeom prst="roundRect">
            <a:avLst>
              <a:gd name="adj" fmla="val 8520"/>
            </a:avLst>
          </a:prstGeom>
          <a:solidFill>
            <a:srgbClr val="FFFFFF"/>
          </a:solidFill>
          <a:ln w="6350">
            <a:solidFill>
              <a:srgbClr val="D9DF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5033" y="2086967"/>
            <a:ext cx="4883573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620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Carga perezosa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5033" y="2406985"/>
            <a:ext cx="4883573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A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 open-in-view, el detalle de alerta carga sus reglas dentro del servicio.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15975" y="3196630"/>
            <a:ext cx="5200650" cy="1155171"/>
          </a:xfrm>
          <a:prstGeom prst="roundRect">
            <a:avLst>
              <a:gd name="adj" fmla="val 8520"/>
            </a:avLst>
          </a:prstGeom>
          <a:solidFill>
            <a:srgbClr val="FFFFFF"/>
          </a:solidFill>
          <a:ln w="6350">
            <a:solidFill>
              <a:srgbClr val="D9DF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45633" y="3400896"/>
            <a:ext cx="4883573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620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Último administrador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45633" y="3720902"/>
            <a:ext cx="4883573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A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Siempre queda uno activo y nadie puede desactivarse a sí mismo.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75375" y="3196630"/>
            <a:ext cx="5200650" cy="1155171"/>
          </a:xfrm>
          <a:prstGeom prst="roundRect">
            <a:avLst>
              <a:gd name="adj" fmla="val 8520"/>
            </a:avLst>
          </a:prstGeom>
          <a:solidFill>
            <a:srgbClr val="FFFFFF"/>
          </a:solidFill>
          <a:ln w="6350">
            <a:solidFill>
              <a:srgbClr val="D9DF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5033" y="3400896"/>
            <a:ext cx="4883573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620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CSV en Excel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5033" y="3720902"/>
            <a:ext cx="488357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A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Punto y coma y marca BOM para que se vean columnas y tildes.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D6B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CyberGuard · Segunda entrega · 13 casos en el documento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D6B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2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2F7D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TERCERA ENTREGA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472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620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Lo que falta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879538"/>
            <a:ext cx="10566400" cy="2714427"/>
          </a:xfrm>
          <a:prstGeom prst="rect">
            <a:avLst/>
          </a:prstGeom>
          <a:solidFill>
            <a:srgbClr val="FFFFFF"/>
          </a:solidFill>
          <a:ln/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892238"/>
          <a:ext cx="10553700" cy="2701727"/>
        </p:xfrm>
        <a:graphic>
          <a:graphicData uri="http://schemas.openxmlformats.org/drawingml/2006/table">
            <a:tbl>
              <a:tblPr/>
              <a:tblGrid>
                <a:gridCol w="1688592"/>
                <a:gridCol w="8865108"/>
              </a:tblGrid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620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Prioridad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620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Funcionalidad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620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Alta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620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Más pruebas: cada regla, servicios y todas las rutas por rol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620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Alta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620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Auditoría: quién registró cada evento y quién cambió cada alerta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620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Alta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620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Transiciones de estado controladas en las alertas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620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Media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620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Carga masiva de eventos desde CSV y calibración de reglas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620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Media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620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Gráficas en el panel, paginación e índices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620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Baja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620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Reportes en PDF y política de contraseñas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D6B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CyberGuard · Segunda entrega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D6B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F4D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A8DCC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CONCLUSIONES PARCIALES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472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EEF5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 propuesta a aplicación funcional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892238"/>
            <a:ext cx="3386667" cy="0"/>
          </a:xfrm>
          <a:prstGeom prst="line">
            <a:avLst/>
          </a:prstGeom>
          <a:noFill/>
          <a:ln w="25400">
            <a:solidFill>
              <a:srgbClr val="A8DCC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12800" y="2108138"/>
            <a:ext cx="3488267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EEF5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Completo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12800" y="2514538"/>
            <a:ext cx="3488267" cy="5942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D6E8E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 requerimientos funcionales y 8 no funcionales implementados.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402667" y="1892238"/>
            <a:ext cx="3386667" cy="0"/>
          </a:xfrm>
          <a:prstGeom prst="line">
            <a:avLst/>
          </a:prstGeom>
          <a:noFill/>
          <a:ln w="25400">
            <a:solidFill>
              <a:srgbClr val="A8DCC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02667" y="2108138"/>
            <a:ext cx="3488267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EEF5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Extensible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402667" y="2514538"/>
            <a:ext cx="3488267" cy="5942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D6E8E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Una regla nueva es una clase más, sin tocar el motor.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992534" y="1892238"/>
            <a:ext cx="3386667" cy="0"/>
          </a:xfrm>
          <a:prstGeom prst="line">
            <a:avLst/>
          </a:prstGeom>
          <a:noFill/>
          <a:ln w="25400">
            <a:solidFill>
              <a:srgbClr val="A8DCC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92534" y="2108138"/>
            <a:ext cx="3488267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EEF5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Responsable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992534" y="2514538"/>
            <a:ext cx="3488267" cy="5942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D6E8E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Analiza y alerta; la decisión final queda en una persona.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8DCC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CyberGuard · Segunda entrega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8DCC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018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5BB8A4"/>
          </a:solidFill>
          <a:ln/>
        </p:spPr>
      </p:sp>
      <p:sp>
        <p:nvSpPr>
          <p:cNvPr id="3" name="Text 1"/>
          <p:cNvSpPr/>
          <p:nvPr/>
        </p:nvSpPr>
        <p:spPr>
          <a:xfrm>
            <a:off x="812800" y="2434568"/>
            <a:ext cx="10883392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300"/>
              </a:lnSpc>
              <a:buNone/>
            </a:pPr>
            <a:r>
              <a:rPr lang="en-US" sz="6000" b="1" dirty="0">
                <a:solidFill>
                  <a:srgbClr val="EEF2E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Gracias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12800" y="3539468"/>
            <a:ext cx="10883392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C9D3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¿Preguntas?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12800" y="4174468"/>
            <a:ext cx="3899024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93A4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mvnw.cmd spring-boot:run → localhost:8080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903060" y="4174468"/>
            <a:ext cx="2240666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93A4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admin · analista · consulta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Proyecto CyberGuard</dc:title>
  <dc:subject>PptxGenJS Presentation</dc:subject>
  <dc:creator>PptxGenJS</dc:creator>
  <cp:lastModifiedBy>PptxGenJS</cp:lastModifiedBy>
  <cp:revision>1</cp:revision>
  <dcterms:created xsi:type="dcterms:W3CDTF">2026-09-30T15:23:30Z</dcterms:created>
  <dcterms:modified xsi:type="dcterms:W3CDTF">2026-09-30T15:23:30Z</dcterms:modified>
</cp:coreProperties>
</file>